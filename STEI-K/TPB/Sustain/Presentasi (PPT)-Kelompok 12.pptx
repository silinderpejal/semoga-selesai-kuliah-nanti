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assion One Bold" charset="1" panose="02000506050000020004"/>
      <p:regular r:id="rId15"/>
    </p:embeddedFont>
    <p:embeddedFont>
      <p:font typeface="Open Sauce Bold" charset="1" panose="00000800000000000000"/>
      <p:regular r:id="rId16"/>
    </p:embeddedFont>
    <p:embeddedFont>
      <p:font typeface="Open Sauce" charset="1" panose="00000500000000000000"/>
      <p:regular r:id="rId17"/>
    </p:embeddedFont>
    <p:embeddedFont>
      <p:font typeface="Open Sauce Heavy" charset="1" panose="00000A00000000000000"/>
      <p:regular r:id="rId18"/>
    </p:embeddedFont>
    <p:embeddedFont>
      <p:font typeface="Open Sauce Light" charset="1" panose="00000400000000000000"/>
      <p:regular r:id="rId19"/>
    </p:embeddedFont>
    <p:embeddedFont>
      <p:font typeface="Open Sauce Bold Italics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font" Target="fonts/font18.fntdata"/><Relationship Id="rId8" Type="http://schemas.openxmlformats.org/officeDocument/2006/relationships/slide" Target="slides/slide3.xml"/><Relationship Id="rId3" Type="http://schemas.openxmlformats.org/officeDocument/2006/relationships/viewProps" Target="viewProps.xml"/><Relationship Id="rId21" Type="http://schemas.openxmlformats.org/officeDocument/2006/relationships/customXml" Target="../customXml/item1.xml"/><Relationship Id="rId12" Type="http://schemas.openxmlformats.org/officeDocument/2006/relationships/slide" Target="slides/slide7.xml"/><Relationship Id="rId17" Type="http://schemas.openxmlformats.org/officeDocument/2006/relationships/font" Target="fonts/font17.fntdata"/><Relationship Id="rId7" Type="http://schemas.openxmlformats.org/officeDocument/2006/relationships/slide" Target="slides/slide2.xml"/><Relationship Id="rId16" Type="http://schemas.openxmlformats.org/officeDocument/2006/relationships/font" Target="fonts/font16.fntdata"/><Relationship Id="rId2" Type="http://schemas.openxmlformats.org/officeDocument/2006/relationships/presProps" Target="presProps.xml"/><Relationship Id="rId20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15" Type="http://schemas.openxmlformats.org/officeDocument/2006/relationships/font" Target="fonts/font15.fntdata"/><Relationship Id="rId5" Type="http://schemas.openxmlformats.org/officeDocument/2006/relationships/tableStyles" Target="tableStyles.xml"/><Relationship Id="rId23" Type="http://schemas.openxmlformats.org/officeDocument/2006/relationships/customXml" Target="../customXml/item3.xml"/><Relationship Id="rId10" Type="http://schemas.openxmlformats.org/officeDocument/2006/relationships/slide" Target="slides/slide5.xml"/><Relationship Id="rId19" Type="http://schemas.openxmlformats.org/officeDocument/2006/relationships/font" Target="fonts/font19.fntdata"/><Relationship Id="rId14" Type="http://schemas.openxmlformats.org/officeDocument/2006/relationships/slide" Target="slides/slide9.xml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125368"/>
            <a:ext cx="13331700" cy="1445915"/>
            <a:chOff x="0" y="0"/>
            <a:chExt cx="3511230" cy="380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11230" cy="380817"/>
            </a:xfrm>
            <a:custGeom>
              <a:avLst/>
              <a:gdLst/>
              <a:ahLst/>
              <a:cxnLst/>
              <a:rect r="r" b="b" t="t" l="l"/>
              <a:pathLst>
                <a:path h="380817" w="3511230">
                  <a:moveTo>
                    <a:pt x="9872" y="0"/>
                  </a:moveTo>
                  <a:lnTo>
                    <a:pt x="3501358" y="0"/>
                  </a:lnTo>
                  <a:cubicBezTo>
                    <a:pt x="3503976" y="0"/>
                    <a:pt x="3506487" y="1040"/>
                    <a:pt x="3508339" y="2891"/>
                  </a:cubicBezTo>
                  <a:cubicBezTo>
                    <a:pt x="3510190" y="4743"/>
                    <a:pt x="3511230" y="7254"/>
                    <a:pt x="3511230" y="9872"/>
                  </a:cubicBezTo>
                  <a:lnTo>
                    <a:pt x="3511230" y="370945"/>
                  </a:lnTo>
                  <a:cubicBezTo>
                    <a:pt x="3511230" y="373563"/>
                    <a:pt x="3510190" y="376074"/>
                    <a:pt x="3508339" y="377926"/>
                  </a:cubicBezTo>
                  <a:cubicBezTo>
                    <a:pt x="3506487" y="379777"/>
                    <a:pt x="3503976" y="380817"/>
                    <a:pt x="3501358" y="380817"/>
                  </a:cubicBezTo>
                  <a:lnTo>
                    <a:pt x="9872" y="380817"/>
                  </a:lnTo>
                  <a:cubicBezTo>
                    <a:pt x="7254" y="380817"/>
                    <a:pt x="4743" y="379777"/>
                    <a:pt x="2891" y="377926"/>
                  </a:cubicBezTo>
                  <a:cubicBezTo>
                    <a:pt x="1040" y="376074"/>
                    <a:pt x="0" y="373563"/>
                    <a:pt x="0" y="370945"/>
                  </a:cubicBezTo>
                  <a:lnTo>
                    <a:pt x="0" y="9872"/>
                  </a:lnTo>
                  <a:cubicBezTo>
                    <a:pt x="0" y="7254"/>
                    <a:pt x="1040" y="4743"/>
                    <a:pt x="2891" y="2891"/>
                  </a:cubicBezTo>
                  <a:cubicBezTo>
                    <a:pt x="4743" y="1040"/>
                    <a:pt x="7254" y="0"/>
                    <a:pt x="9872" y="0"/>
                  </a:cubicBezTo>
                  <a:close/>
                </a:path>
              </a:pathLst>
            </a:custGeom>
            <a:solidFill>
              <a:srgbClr val="2B375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11230" cy="4189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31676" y="3318760"/>
            <a:ext cx="10740353" cy="3445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17"/>
              </a:lnSpc>
            </a:pPr>
            <a:r>
              <a:rPr lang="en-US" sz="8917" b="true">
                <a:solidFill>
                  <a:srgbClr val="545454"/>
                </a:solidFill>
                <a:latin typeface="Passion One Bold"/>
                <a:ea typeface="Passion One Bold"/>
                <a:cs typeface="Passion One Bold"/>
                <a:sym typeface="Passion One Bold"/>
              </a:rPr>
              <a:t>PEMANFAATAN HEWAN DALAM PENGOLAHAN LIMBAH MAKANAN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7578622">
            <a:off x="-679652" y="3896791"/>
            <a:ext cx="2900355" cy="4253854"/>
          </a:xfrm>
          <a:custGeom>
            <a:avLst/>
            <a:gdLst/>
            <a:ahLst/>
            <a:cxnLst/>
            <a:rect r="r" b="b" t="t" l="l"/>
            <a:pathLst>
              <a:path h="4253854" w="2900355">
                <a:moveTo>
                  <a:pt x="0" y="0"/>
                </a:moveTo>
                <a:lnTo>
                  <a:pt x="2900355" y="0"/>
                </a:lnTo>
                <a:lnTo>
                  <a:pt x="2900355" y="4253854"/>
                </a:lnTo>
                <a:lnTo>
                  <a:pt x="0" y="42538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0620669" y="2706371"/>
            <a:ext cx="10398934" cy="7580629"/>
          </a:xfrm>
          <a:custGeom>
            <a:avLst/>
            <a:gdLst/>
            <a:ahLst/>
            <a:cxnLst/>
            <a:rect r="r" b="b" t="t" l="l"/>
            <a:pathLst>
              <a:path h="7580629" w="10398934">
                <a:moveTo>
                  <a:pt x="10398934" y="0"/>
                </a:moveTo>
                <a:lnTo>
                  <a:pt x="0" y="0"/>
                </a:lnTo>
                <a:lnTo>
                  <a:pt x="0" y="7580629"/>
                </a:lnTo>
                <a:lnTo>
                  <a:pt x="10398934" y="7580629"/>
                </a:lnTo>
                <a:lnTo>
                  <a:pt x="10398934" y="0"/>
                </a:lnTo>
                <a:close/>
              </a:path>
            </a:pathLst>
          </a:custGeom>
          <a:blipFill>
            <a:blip r:embed="rId4"/>
            <a:stretch>
              <a:fillRect l="0" t="-369" r="-10018" b="-36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280128">
            <a:off x="14039893" y="-1908162"/>
            <a:ext cx="3597851" cy="5276848"/>
          </a:xfrm>
          <a:custGeom>
            <a:avLst/>
            <a:gdLst/>
            <a:ahLst/>
            <a:cxnLst/>
            <a:rect r="r" b="b" t="t" l="l"/>
            <a:pathLst>
              <a:path h="5276848" w="3597851">
                <a:moveTo>
                  <a:pt x="0" y="0"/>
                </a:moveTo>
                <a:lnTo>
                  <a:pt x="3597851" y="0"/>
                </a:lnTo>
                <a:lnTo>
                  <a:pt x="3597851" y="5276848"/>
                </a:lnTo>
                <a:lnTo>
                  <a:pt x="0" y="5276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3048768" y="-1361522"/>
            <a:ext cx="4780444" cy="478044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003487" y="8571363"/>
            <a:ext cx="8888993" cy="52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8"/>
              </a:lnSpc>
            </a:pPr>
            <a:r>
              <a:rPr lang="en-US" sz="3141" spc="446" b="true">
                <a:solidFill>
                  <a:srgbClr val="F4F7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Pengantar Prinsip Keberlanjutan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998073">
            <a:off x="15857772" y="5717905"/>
            <a:ext cx="4202887" cy="6164235"/>
          </a:xfrm>
          <a:custGeom>
            <a:avLst/>
            <a:gdLst/>
            <a:ahLst/>
            <a:cxnLst/>
            <a:rect r="r" b="b" t="t" l="l"/>
            <a:pathLst>
              <a:path h="6164235" w="4202887">
                <a:moveTo>
                  <a:pt x="0" y="0"/>
                </a:moveTo>
                <a:lnTo>
                  <a:pt x="4202888" y="0"/>
                </a:lnTo>
                <a:lnTo>
                  <a:pt x="4202888" y="6164235"/>
                </a:lnTo>
                <a:lnTo>
                  <a:pt x="0" y="6164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97324" y="-959934"/>
            <a:ext cx="5196966" cy="7795449"/>
          </a:xfrm>
          <a:custGeom>
            <a:avLst/>
            <a:gdLst/>
            <a:ahLst/>
            <a:cxnLst/>
            <a:rect r="r" b="b" t="t" l="l"/>
            <a:pathLst>
              <a:path h="7795449" w="5196966">
                <a:moveTo>
                  <a:pt x="0" y="0"/>
                </a:moveTo>
                <a:lnTo>
                  <a:pt x="5196966" y="0"/>
                </a:lnTo>
                <a:lnTo>
                  <a:pt x="5196966" y="7795449"/>
                </a:lnTo>
                <a:lnTo>
                  <a:pt x="0" y="77954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998073">
            <a:off x="5432513" y="-2285275"/>
            <a:ext cx="4202887" cy="6164235"/>
          </a:xfrm>
          <a:custGeom>
            <a:avLst/>
            <a:gdLst/>
            <a:ahLst/>
            <a:cxnLst/>
            <a:rect r="r" b="b" t="t" l="l"/>
            <a:pathLst>
              <a:path h="6164235" w="4202887">
                <a:moveTo>
                  <a:pt x="0" y="0"/>
                </a:moveTo>
                <a:lnTo>
                  <a:pt x="4202888" y="0"/>
                </a:lnTo>
                <a:lnTo>
                  <a:pt x="4202888" y="6164235"/>
                </a:lnTo>
                <a:lnTo>
                  <a:pt x="0" y="6164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2604813" y="-1593379"/>
            <a:ext cx="4780444" cy="478044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95738" y="5287615"/>
            <a:ext cx="7237030" cy="351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19"/>
              </a:lnSpc>
            </a:pPr>
            <a:r>
              <a:rPr lang="en-US" sz="3370" strike="noStrike" u="none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Bryan Pamungkas Prahara   </a:t>
            </a:r>
          </a:p>
          <a:p>
            <a:pPr algn="l">
              <a:lnSpc>
                <a:spcPts val="4719"/>
              </a:lnSpc>
            </a:pPr>
            <a:r>
              <a:rPr lang="en-US" sz="3370" strike="noStrike" u="none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Rulyansyah Fajar Ramadhan</a:t>
            </a:r>
          </a:p>
          <a:p>
            <a:pPr algn="l">
              <a:lnSpc>
                <a:spcPts val="4719"/>
              </a:lnSpc>
            </a:pPr>
            <a:r>
              <a:rPr lang="en-US" sz="3370" strike="noStrike" u="none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Ananda Aulia Nurramadhan              </a:t>
            </a:r>
          </a:p>
          <a:p>
            <a:pPr algn="l">
              <a:lnSpc>
                <a:spcPts val="4719"/>
              </a:lnSpc>
            </a:pPr>
            <a:r>
              <a:rPr lang="en-US" sz="3370" strike="noStrike" u="none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Arla Salsabila </a:t>
            </a:r>
          </a:p>
          <a:p>
            <a:pPr algn="l">
              <a:lnSpc>
                <a:spcPts val="4719"/>
              </a:lnSpc>
            </a:pPr>
            <a:r>
              <a:rPr lang="en-US" sz="3370" strike="noStrike" u="none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Erin Cherryl Angela</a:t>
            </a:r>
          </a:p>
          <a:p>
            <a:pPr algn="l">
              <a:lnSpc>
                <a:spcPts val="4719"/>
              </a:lnSpc>
            </a:pPr>
            <a:r>
              <a:rPr lang="en-US" sz="3370" strike="noStrike" u="none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Marshall Farrell Attalla K.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70324" y="5287615"/>
            <a:ext cx="2277439" cy="351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719"/>
              </a:lnSpc>
              <a:spcBef>
                <a:spcPct val="0"/>
              </a:spcBef>
            </a:pPr>
            <a:r>
              <a:rPr lang="en-US" b="true" sz="3370" strike="noStrike" u="none">
                <a:solidFill>
                  <a:srgbClr val="73737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19625258</a:t>
            </a:r>
          </a:p>
          <a:p>
            <a:pPr algn="l" marL="0" indent="0" lvl="1">
              <a:lnSpc>
                <a:spcPts val="4719"/>
              </a:lnSpc>
              <a:spcBef>
                <a:spcPct val="0"/>
              </a:spcBef>
            </a:pPr>
            <a:r>
              <a:rPr lang="en-US" b="true" sz="3370" strike="noStrike" u="none">
                <a:solidFill>
                  <a:srgbClr val="73737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19625246</a:t>
            </a:r>
          </a:p>
          <a:p>
            <a:pPr algn="l" marL="0" indent="0" lvl="1">
              <a:lnSpc>
                <a:spcPts val="4719"/>
              </a:lnSpc>
              <a:spcBef>
                <a:spcPct val="0"/>
              </a:spcBef>
            </a:pPr>
            <a:r>
              <a:rPr lang="en-US" b="true" sz="3370" strike="noStrike" u="none">
                <a:solidFill>
                  <a:srgbClr val="73737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19625238</a:t>
            </a:r>
          </a:p>
          <a:p>
            <a:pPr algn="l" marL="0" indent="0" lvl="1">
              <a:lnSpc>
                <a:spcPts val="4719"/>
              </a:lnSpc>
              <a:spcBef>
                <a:spcPct val="0"/>
              </a:spcBef>
            </a:pPr>
            <a:r>
              <a:rPr lang="en-US" b="true" sz="3370" strike="noStrike" u="none">
                <a:solidFill>
                  <a:srgbClr val="73737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19625250 </a:t>
            </a:r>
          </a:p>
          <a:p>
            <a:pPr algn="l" marL="0" indent="0" lvl="1">
              <a:lnSpc>
                <a:spcPts val="4719"/>
              </a:lnSpc>
              <a:spcBef>
                <a:spcPct val="0"/>
              </a:spcBef>
            </a:pPr>
            <a:r>
              <a:rPr lang="en-US" b="true" sz="3370" strike="noStrike" u="none">
                <a:solidFill>
                  <a:srgbClr val="73737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19625254</a:t>
            </a:r>
          </a:p>
          <a:p>
            <a:pPr algn="l" marL="0" indent="0" lvl="1">
              <a:lnSpc>
                <a:spcPts val="4719"/>
              </a:lnSpc>
              <a:spcBef>
                <a:spcPct val="0"/>
              </a:spcBef>
            </a:pPr>
            <a:r>
              <a:rPr lang="en-US" b="true" sz="3370" strike="noStrike" u="none">
                <a:solidFill>
                  <a:srgbClr val="73737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19625242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5738" y="2691946"/>
            <a:ext cx="6313290" cy="274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90"/>
              </a:lnSpc>
            </a:pPr>
            <a:r>
              <a:rPr lang="en-US" sz="10590" b="true">
                <a:solidFill>
                  <a:srgbClr val="545454"/>
                </a:solidFill>
                <a:latin typeface="Passion One Bold"/>
                <a:ea typeface="Passion One Bold"/>
                <a:cs typeface="Passion One Bold"/>
                <a:sym typeface="Passion One Bold"/>
              </a:rPr>
              <a:t>ANGGOTA KELOMPOK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71650" y="3441500"/>
            <a:ext cx="8970675" cy="2382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2750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Di Kampus Jatinangor, masih ditemukan tempat sampah yang berisi residu makanan yang berbaur dengan sampah-sampah lainnya. Hal ini dipicu oleh tiadanya fasilitas dan kesadaran untuk melakukan pemilahan sampah.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017653">
            <a:off x="568942" y="-1536666"/>
            <a:ext cx="3520089" cy="5162798"/>
          </a:xfrm>
          <a:custGeom>
            <a:avLst/>
            <a:gdLst/>
            <a:ahLst/>
            <a:cxnLst/>
            <a:rect r="r" b="b" t="t" l="l"/>
            <a:pathLst>
              <a:path h="5162798" w="3520089">
                <a:moveTo>
                  <a:pt x="0" y="0"/>
                </a:moveTo>
                <a:lnTo>
                  <a:pt x="3520090" y="0"/>
                </a:lnTo>
                <a:lnTo>
                  <a:pt x="3520090" y="5162798"/>
                </a:lnTo>
                <a:lnTo>
                  <a:pt x="0" y="51627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18386" y="1329062"/>
            <a:ext cx="11988539" cy="1751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095"/>
              </a:lnSpc>
            </a:pPr>
            <a:r>
              <a:rPr lang="en-US" b="true" sz="13095">
                <a:solidFill>
                  <a:srgbClr val="545454"/>
                </a:solidFill>
                <a:latin typeface="Passion One Bold"/>
                <a:ea typeface="Passion One Bold"/>
                <a:cs typeface="Passion One Bold"/>
                <a:sym typeface="Passion One Bold"/>
              </a:rPr>
              <a:t>LATAR BELAKANG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025939" y="3602338"/>
            <a:ext cx="3592138" cy="4906489"/>
          </a:xfrm>
          <a:custGeom>
            <a:avLst/>
            <a:gdLst/>
            <a:ahLst/>
            <a:cxnLst/>
            <a:rect r="r" b="b" t="t" l="l"/>
            <a:pathLst>
              <a:path h="4906489" w="3592138">
                <a:moveTo>
                  <a:pt x="0" y="0"/>
                </a:moveTo>
                <a:lnTo>
                  <a:pt x="3592138" y="0"/>
                </a:lnTo>
                <a:lnTo>
                  <a:pt x="3592138" y="4906489"/>
                </a:lnTo>
                <a:lnTo>
                  <a:pt x="0" y="49064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511" t="-7477" r="-25044" b="-1046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061317">
            <a:off x="14087542" y="5484455"/>
            <a:ext cx="5309719" cy="7787588"/>
          </a:xfrm>
          <a:custGeom>
            <a:avLst/>
            <a:gdLst/>
            <a:ahLst/>
            <a:cxnLst/>
            <a:rect r="r" b="b" t="t" l="l"/>
            <a:pathLst>
              <a:path h="7787588" w="5309719">
                <a:moveTo>
                  <a:pt x="0" y="0"/>
                </a:moveTo>
                <a:lnTo>
                  <a:pt x="5309720" y="0"/>
                </a:lnTo>
                <a:lnTo>
                  <a:pt x="5309720" y="7787588"/>
                </a:lnTo>
                <a:lnTo>
                  <a:pt x="0" y="7787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71650" y="6103208"/>
            <a:ext cx="8970675" cy="2382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2750" spc="118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Limbah makanan dapat mengurangi kelayakan daur ulang dari material seperti plastik dan kertas. Tak hanya itu, limbah makanan menjadi rumah bagi vektor penyakit dan menghasilkan metana (CH</a:t>
            </a:r>
            <a:r>
              <a:rPr lang="en-US" sz="2750" spc="118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  <a:r>
              <a:rPr lang="en-US" sz="2750" spc="118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) saat terdekomposisi.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5682" y="9258300"/>
            <a:ext cx="4780444" cy="478044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77263" y="6925674"/>
            <a:ext cx="2809680" cy="188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2194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Dapat menekan biaya untuk produksi pangan hewani menjadi lebih terjangkau.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8100000">
            <a:off x="13808754" y="-678358"/>
            <a:ext cx="3796402" cy="5568056"/>
          </a:xfrm>
          <a:custGeom>
            <a:avLst/>
            <a:gdLst/>
            <a:ahLst/>
            <a:cxnLst/>
            <a:rect r="r" b="b" t="t" l="l"/>
            <a:pathLst>
              <a:path h="5568056" w="3796402">
                <a:moveTo>
                  <a:pt x="0" y="0"/>
                </a:moveTo>
                <a:lnTo>
                  <a:pt x="3796402" y="0"/>
                </a:lnTo>
                <a:lnTo>
                  <a:pt x="3796402" y="5568056"/>
                </a:lnTo>
                <a:lnTo>
                  <a:pt x="0" y="55680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238250"/>
            <a:ext cx="9012110" cy="2999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1495"/>
              </a:lnSpc>
            </a:pPr>
            <a:r>
              <a:rPr lang="en-US" b="true" sz="11495">
                <a:solidFill>
                  <a:srgbClr val="545454"/>
                </a:solidFill>
                <a:latin typeface="Passion One Bold"/>
                <a:ea typeface="Passion One Bold"/>
                <a:cs typeface="Passion One Bold"/>
                <a:sym typeface="Passion One Bold"/>
              </a:rPr>
              <a:t>KETERKAITAN DENGAN TPB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709226" y="-3566516"/>
            <a:ext cx="4780444" cy="478044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98814" y="4682994"/>
            <a:ext cx="1966577" cy="1966577"/>
          </a:xfrm>
          <a:custGeom>
            <a:avLst/>
            <a:gdLst/>
            <a:ahLst/>
            <a:cxnLst/>
            <a:rect r="r" b="b" t="t" l="l"/>
            <a:pathLst>
              <a:path h="1966577" w="1966577">
                <a:moveTo>
                  <a:pt x="0" y="0"/>
                </a:moveTo>
                <a:lnTo>
                  <a:pt x="1966577" y="0"/>
                </a:lnTo>
                <a:lnTo>
                  <a:pt x="1966577" y="1966577"/>
                </a:lnTo>
                <a:lnTo>
                  <a:pt x="0" y="19665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160402" y="4682994"/>
            <a:ext cx="1966577" cy="1966577"/>
          </a:xfrm>
          <a:custGeom>
            <a:avLst/>
            <a:gdLst/>
            <a:ahLst/>
            <a:cxnLst/>
            <a:rect r="r" b="b" t="t" l="l"/>
            <a:pathLst>
              <a:path h="1966577" w="1966577">
                <a:moveTo>
                  <a:pt x="0" y="0"/>
                </a:moveTo>
                <a:lnTo>
                  <a:pt x="1966577" y="0"/>
                </a:lnTo>
                <a:lnTo>
                  <a:pt x="1966577" y="1966577"/>
                </a:lnTo>
                <a:lnTo>
                  <a:pt x="0" y="19665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831750" y="4682994"/>
            <a:ext cx="1966577" cy="1966577"/>
          </a:xfrm>
          <a:custGeom>
            <a:avLst/>
            <a:gdLst/>
            <a:ahLst/>
            <a:cxnLst/>
            <a:rect r="r" b="b" t="t" l="l"/>
            <a:pathLst>
              <a:path h="1966577" w="1966577">
                <a:moveTo>
                  <a:pt x="0" y="0"/>
                </a:moveTo>
                <a:lnTo>
                  <a:pt x="1966577" y="0"/>
                </a:lnTo>
                <a:lnTo>
                  <a:pt x="1966577" y="1966577"/>
                </a:lnTo>
                <a:lnTo>
                  <a:pt x="0" y="19665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489054" y="4682994"/>
            <a:ext cx="1966577" cy="1966577"/>
          </a:xfrm>
          <a:custGeom>
            <a:avLst/>
            <a:gdLst/>
            <a:ahLst/>
            <a:cxnLst/>
            <a:rect r="r" b="b" t="t" l="l"/>
            <a:pathLst>
              <a:path h="1966577" w="1966577">
                <a:moveTo>
                  <a:pt x="0" y="0"/>
                </a:moveTo>
                <a:lnTo>
                  <a:pt x="1966577" y="0"/>
                </a:lnTo>
                <a:lnTo>
                  <a:pt x="1966577" y="1966577"/>
                </a:lnTo>
                <a:lnTo>
                  <a:pt x="0" y="19665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817706" y="4682994"/>
            <a:ext cx="1966912" cy="1966912"/>
          </a:xfrm>
          <a:custGeom>
            <a:avLst/>
            <a:gdLst/>
            <a:ahLst/>
            <a:cxnLst/>
            <a:rect r="r" b="b" t="t" l="l"/>
            <a:pathLst>
              <a:path h="1966912" w="1966912">
                <a:moveTo>
                  <a:pt x="0" y="0"/>
                </a:moveTo>
                <a:lnTo>
                  <a:pt x="1966913" y="0"/>
                </a:lnTo>
                <a:lnTo>
                  <a:pt x="1966913" y="1966912"/>
                </a:lnTo>
                <a:lnTo>
                  <a:pt x="0" y="19669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410199" y="6925674"/>
            <a:ext cx="2809680" cy="188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2194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Dapat membuat lingkungan kota dan permukiman menjadi lebih bersih dan sehat.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36876" y="6925674"/>
            <a:ext cx="2809680" cy="188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2194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Dapat mendorong masyarakat untuk menjadi lebih bijak dalam mengelola limbah makanan.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67503" y="6925674"/>
            <a:ext cx="2809680" cy="1506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2194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Dapat mengurangi emisi gas rumah kaca, terutama metana (CH</a:t>
            </a:r>
            <a:r>
              <a:rPr lang="en-US" sz="2194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  <a:r>
              <a:rPr lang="en-US" sz="2194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01057" y="6925674"/>
            <a:ext cx="2809680" cy="188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1"/>
              </a:lnSpc>
            </a:pPr>
            <a:r>
              <a:rPr lang="en-US" sz="2194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Dapat mengurangi tekanan terhadap penggunaan lahan dan mencegah pencemaran tanah.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169108">
            <a:off x="15868534" y="-200385"/>
            <a:ext cx="2826569" cy="4145635"/>
          </a:xfrm>
          <a:custGeom>
            <a:avLst/>
            <a:gdLst/>
            <a:ahLst/>
            <a:cxnLst/>
            <a:rect r="r" b="b" t="t" l="l"/>
            <a:pathLst>
              <a:path h="4145635" w="2826569">
                <a:moveTo>
                  <a:pt x="2826569" y="4145635"/>
                </a:moveTo>
                <a:lnTo>
                  <a:pt x="0" y="4145635"/>
                </a:lnTo>
                <a:lnTo>
                  <a:pt x="0" y="0"/>
                </a:lnTo>
                <a:lnTo>
                  <a:pt x="2826569" y="0"/>
                </a:lnTo>
                <a:lnTo>
                  <a:pt x="2826569" y="41456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706671" y="6215305"/>
            <a:ext cx="4780444" cy="478044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BDAD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11880" y="4502840"/>
            <a:ext cx="952916" cy="810850"/>
            <a:chOff x="0" y="0"/>
            <a:chExt cx="955207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5207" cy="812800"/>
            </a:xfrm>
            <a:custGeom>
              <a:avLst/>
              <a:gdLst/>
              <a:ahLst/>
              <a:cxnLst/>
              <a:rect r="r" b="b" t="t" l="l"/>
              <a:pathLst>
                <a:path h="812800" w="955207">
                  <a:moveTo>
                    <a:pt x="477604" y="0"/>
                  </a:moveTo>
                  <a:cubicBezTo>
                    <a:pt x="213830" y="0"/>
                    <a:pt x="0" y="181951"/>
                    <a:pt x="0" y="406400"/>
                  </a:cubicBezTo>
                  <a:cubicBezTo>
                    <a:pt x="0" y="630849"/>
                    <a:pt x="213830" y="812800"/>
                    <a:pt x="477604" y="812800"/>
                  </a:cubicBezTo>
                  <a:cubicBezTo>
                    <a:pt x="741377" y="812800"/>
                    <a:pt x="955207" y="630849"/>
                    <a:pt x="955207" y="406400"/>
                  </a:cubicBezTo>
                  <a:cubicBezTo>
                    <a:pt x="955207" y="181951"/>
                    <a:pt x="741377" y="0"/>
                    <a:pt x="477604" y="0"/>
                  </a:cubicBezTo>
                  <a:close/>
                </a:path>
              </a:pathLst>
            </a:custGeom>
            <a:solidFill>
              <a:srgbClr val="2E6E6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89551" y="38100"/>
              <a:ext cx="77610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16997" y="2089940"/>
            <a:ext cx="11934580" cy="139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67"/>
              </a:lnSpc>
            </a:pPr>
            <a:r>
              <a:rPr lang="en-US" sz="10467" b="true">
                <a:solidFill>
                  <a:srgbClr val="545454"/>
                </a:solidFill>
                <a:latin typeface="Passion One Bold"/>
                <a:ea typeface="Passion One Bold"/>
                <a:cs typeface="Passion One Bold"/>
                <a:sym typeface="Passion One Bold"/>
              </a:rPr>
              <a:t>PENGAMBILAN DATA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151576" y="2857884"/>
            <a:ext cx="3016797" cy="2126842"/>
          </a:xfrm>
          <a:custGeom>
            <a:avLst/>
            <a:gdLst/>
            <a:ahLst/>
            <a:cxnLst/>
            <a:rect r="r" b="b" t="t" l="l"/>
            <a:pathLst>
              <a:path h="2126842" w="3016797">
                <a:moveTo>
                  <a:pt x="0" y="0"/>
                </a:moveTo>
                <a:lnTo>
                  <a:pt x="3016798" y="0"/>
                </a:lnTo>
                <a:lnTo>
                  <a:pt x="3016798" y="2126842"/>
                </a:lnTo>
                <a:lnTo>
                  <a:pt x="0" y="21268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21448" y="4664592"/>
            <a:ext cx="533780" cy="44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9"/>
              </a:lnSpc>
            </a:pPr>
            <a:r>
              <a:rPr lang="en-US" b="true" sz="2713">
                <a:solidFill>
                  <a:srgbClr val="F4F7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66796" y="4697467"/>
            <a:ext cx="3943369" cy="438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1"/>
              </a:lnSpc>
            </a:pPr>
            <a:r>
              <a:rPr lang="en-US" sz="2594" b="true">
                <a:solidFill>
                  <a:srgbClr val="73737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Kuesioner Daring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249391" y="5155625"/>
            <a:ext cx="533780" cy="44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9"/>
              </a:lnSpc>
            </a:pPr>
            <a:r>
              <a:rPr lang="en-US" b="true" sz="2713">
                <a:solidFill>
                  <a:srgbClr val="F4F7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66796" y="5380351"/>
            <a:ext cx="11678560" cy="82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394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Kuesioner dibuat menggunakan Google Forms. Responden berjumlah 23 orang yang berada di lingkungan kampus ITB Jatinangor.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66796" y="7171716"/>
            <a:ext cx="11678560" cy="1244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394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Dilakukan dengan total 10 orang narasumber. Narasumber terdiri dari pedagang di sekitar ITB Jatinangor, petugas kebersihan, dan konsumer makanan di sekitar ITB Jatinangor.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11880" y="6374529"/>
            <a:ext cx="952916" cy="810850"/>
            <a:chOff x="0" y="0"/>
            <a:chExt cx="955207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5207" cy="812800"/>
            </a:xfrm>
            <a:custGeom>
              <a:avLst/>
              <a:gdLst/>
              <a:ahLst/>
              <a:cxnLst/>
              <a:rect r="r" b="b" t="t" l="l"/>
              <a:pathLst>
                <a:path h="812800" w="955207">
                  <a:moveTo>
                    <a:pt x="477604" y="0"/>
                  </a:moveTo>
                  <a:cubicBezTo>
                    <a:pt x="213830" y="0"/>
                    <a:pt x="0" y="181951"/>
                    <a:pt x="0" y="406400"/>
                  </a:cubicBezTo>
                  <a:cubicBezTo>
                    <a:pt x="0" y="630849"/>
                    <a:pt x="213830" y="812800"/>
                    <a:pt x="477604" y="812800"/>
                  </a:cubicBezTo>
                  <a:cubicBezTo>
                    <a:pt x="741377" y="812800"/>
                    <a:pt x="955207" y="630849"/>
                    <a:pt x="955207" y="406400"/>
                  </a:cubicBezTo>
                  <a:cubicBezTo>
                    <a:pt x="955207" y="181951"/>
                    <a:pt x="741377" y="0"/>
                    <a:pt x="477604" y="0"/>
                  </a:cubicBezTo>
                  <a:close/>
                </a:path>
              </a:pathLst>
            </a:custGeom>
            <a:solidFill>
              <a:srgbClr val="2E6E6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89551" y="38100"/>
              <a:ext cx="77610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721448" y="6536281"/>
            <a:ext cx="533780" cy="44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9"/>
              </a:lnSpc>
            </a:pPr>
            <a:r>
              <a:rPr lang="en-US" b="true" sz="2713">
                <a:solidFill>
                  <a:srgbClr val="F4F7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66796" y="6569156"/>
            <a:ext cx="3943369" cy="436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631"/>
              </a:lnSpc>
              <a:spcBef>
                <a:spcPct val="0"/>
              </a:spcBef>
            </a:pPr>
            <a:r>
              <a:rPr lang="en-US" b="true" sz="2594" strike="noStrike" u="none">
                <a:solidFill>
                  <a:srgbClr val="73737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Wawancara Luring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5017546">
            <a:off x="15995681" y="-950355"/>
            <a:ext cx="2281025" cy="3345504"/>
          </a:xfrm>
          <a:custGeom>
            <a:avLst/>
            <a:gdLst/>
            <a:ahLst/>
            <a:cxnLst/>
            <a:rect r="r" b="b" t="t" l="l"/>
            <a:pathLst>
              <a:path h="3345504" w="2281025">
                <a:moveTo>
                  <a:pt x="0" y="3345503"/>
                </a:moveTo>
                <a:lnTo>
                  <a:pt x="2281025" y="3345503"/>
                </a:lnTo>
                <a:lnTo>
                  <a:pt x="2281025" y="0"/>
                </a:lnTo>
                <a:lnTo>
                  <a:pt x="0" y="0"/>
                </a:lnTo>
                <a:lnTo>
                  <a:pt x="0" y="334550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22012" y="1321752"/>
            <a:ext cx="14025149" cy="148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73"/>
              </a:lnSpc>
            </a:pPr>
            <a:r>
              <a:rPr lang="en-US" sz="11073" b="true">
                <a:solidFill>
                  <a:srgbClr val="545454"/>
                </a:solidFill>
                <a:latin typeface="Passion One Bold"/>
                <a:ea typeface="Passion One Bold"/>
                <a:cs typeface="Passion One Bold"/>
                <a:sym typeface="Passion One Bold"/>
              </a:rPr>
              <a:t>HASIL KUESIONER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547981">
            <a:off x="12475419" y="3509882"/>
            <a:ext cx="7963211" cy="5308807"/>
          </a:xfrm>
          <a:custGeom>
            <a:avLst/>
            <a:gdLst/>
            <a:ahLst/>
            <a:cxnLst/>
            <a:rect r="r" b="b" t="t" l="l"/>
            <a:pathLst>
              <a:path h="5308807" w="7963211">
                <a:moveTo>
                  <a:pt x="0" y="0"/>
                </a:moveTo>
                <a:lnTo>
                  <a:pt x="7963211" y="0"/>
                </a:lnTo>
                <a:lnTo>
                  <a:pt x="7963211" y="5308807"/>
                </a:lnTo>
                <a:lnTo>
                  <a:pt x="0" y="5308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4466458">
            <a:off x="-1526466" y="3773178"/>
            <a:ext cx="6107593" cy="8957803"/>
          </a:xfrm>
          <a:custGeom>
            <a:avLst/>
            <a:gdLst/>
            <a:ahLst/>
            <a:cxnLst/>
            <a:rect r="r" b="b" t="t" l="l"/>
            <a:pathLst>
              <a:path h="8957803" w="6107593">
                <a:moveTo>
                  <a:pt x="6107593" y="0"/>
                </a:moveTo>
                <a:lnTo>
                  <a:pt x="0" y="0"/>
                </a:lnTo>
                <a:lnTo>
                  <a:pt x="0" y="8957803"/>
                </a:lnTo>
                <a:lnTo>
                  <a:pt x="6107593" y="8957803"/>
                </a:lnTo>
                <a:lnTo>
                  <a:pt x="61075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774114" y="4395190"/>
          <a:ext cx="9883129" cy="5010981"/>
        </p:xfrm>
        <a:graphic>
          <a:graphicData uri="http://schemas.openxmlformats.org/drawingml/2006/table">
            <a:tbl>
              <a:tblPr/>
              <a:tblGrid>
                <a:gridCol w="3825226"/>
                <a:gridCol w="865415"/>
                <a:gridCol w="865415"/>
                <a:gridCol w="865415"/>
                <a:gridCol w="865415"/>
                <a:gridCol w="865415"/>
                <a:gridCol w="865415"/>
                <a:gridCol w="865415"/>
              </a:tblGrid>
              <a:tr h="10021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1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12402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402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1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402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0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402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5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402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B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7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402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AD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6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402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3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402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0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17"/>
                        </a:lnSpc>
                        <a:defRPr/>
                      </a:pPr>
                      <a:r>
                        <a:rPr lang="en-US" sz="2599">
                          <a:solidFill>
                            <a:srgbClr val="FFFFFF"/>
                          </a:solidFill>
                          <a:latin typeface="Open Sauce Light"/>
                          <a:ea typeface="Open Sauce Light"/>
                          <a:cs typeface="Open Sauce Light"/>
                          <a:sym typeface="Open Sauce Light"/>
                        </a:rPr>
                        <a:t>Frekuensi pemisahan limbah makanan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12402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402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</a:tr>
              <a:tr h="10021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0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1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0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3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0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7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AD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7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AD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5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B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12"/>
                        </a:lnSpc>
                        <a:defRPr/>
                      </a:pPr>
                      <a:r>
                        <a:rPr lang="en-US" sz="2594">
                          <a:solidFill>
                            <a:srgbClr val="FFFFFF"/>
                          </a:solidFill>
                          <a:latin typeface="Open Sauce Light"/>
                          <a:ea typeface="Open Sauce Light"/>
                          <a:cs typeface="Open Sauce Light"/>
                          <a:sym typeface="Open Sauce Light"/>
                        </a:rPr>
                        <a:t>Kelayakan daur ulang limbah makanan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</a:tr>
              <a:tr h="10021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0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12402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3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0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3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0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2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8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6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5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B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4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C7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12"/>
                        </a:lnSpc>
                        <a:defRPr/>
                      </a:pPr>
                      <a:r>
                        <a:rPr lang="en-US" sz="2594">
                          <a:solidFill>
                            <a:srgbClr val="FFFFFF"/>
                          </a:solidFill>
                          <a:latin typeface="Open Sauce Light"/>
                          <a:ea typeface="Open Sauce Light"/>
                          <a:cs typeface="Open Sauce Light"/>
                          <a:sym typeface="Open Sauce Light"/>
                        </a:rPr>
                        <a:t>Kecukupan tempat sampah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12402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</a:tr>
              <a:tr h="10021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0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2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8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3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0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5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4BE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6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6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1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12"/>
                        </a:lnSpc>
                        <a:defRPr/>
                      </a:pPr>
                      <a:r>
                        <a:rPr lang="en-US" sz="2594">
                          <a:solidFill>
                            <a:srgbClr val="FFFFFF"/>
                          </a:solidFill>
                          <a:latin typeface="Open Sauce Light"/>
                          <a:ea typeface="Open Sauce Light"/>
                          <a:cs typeface="Open Sauce Light"/>
                          <a:sym typeface="Open Sauce Light"/>
                        </a:rPr>
                        <a:t>Kejelasan label tempat sampah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</a:tr>
              <a:tr h="10021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0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1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3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0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7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AD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10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2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D8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07"/>
                        </a:lnSpc>
                        <a:defRPr/>
                      </a:pPr>
                      <a:r>
                        <a:rPr lang="en-US" sz="2433" b="true">
                          <a:solidFill>
                            <a:srgbClr val="000000"/>
                          </a:solidFill>
                          <a:latin typeface="Open Sauce Heavy"/>
                          <a:ea typeface="Open Sauce Heavy"/>
                          <a:cs typeface="Open Sauce Heavy"/>
                          <a:sym typeface="Open Sauce Heavy"/>
                        </a:rPr>
                        <a:t>1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CC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1F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12"/>
                        </a:lnSpc>
                        <a:defRPr/>
                      </a:pPr>
                      <a:r>
                        <a:rPr lang="en-US" sz="2594">
                          <a:solidFill>
                            <a:srgbClr val="FFFFFF"/>
                          </a:solidFill>
                          <a:latin typeface="Open Sauce Light"/>
                          <a:ea typeface="Open Sauce Light"/>
                          <a:cs typeface="Open Sauce Light"/>
                          <a:sym typeface="Open Sauce Light"/>
                        </a:rPr>
                        <a:t>Kepuasan pengelolaan sampah</a:t>
                      </a:r>
                      <a:endParaRPr lang="en-US" sz="1100"/>
                    </a:p>
                  </a:txBody>
                  <a:tcPr marL="99216" marR="99216" marT="99216" marB="99216" anchor="ctr">
                    <a:lnL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309">
                      <a:solidFill>
                        <a:srgbClr val="4D9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3D9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5739657" y="3890729"/>
            <a:ext cx="560024" cy="505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3553" spc="152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29614" y="3890729"/>
            <a:ext cx="560024" cy="505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3553" spc="152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4650" y="3890729"/>
            <a:ext cx="560024" cy="505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3553" spc="152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69642" y="3890729"/>
            <a:ext cx="560024" cy="505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3553" spc="152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34635" y="3890729"/>
            <a:ext cx="560024" cy="505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3553" spc="152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99628" y="3890729"/>
            <a:ext cx="560024" cy="505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3553" spc="152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64621" y="3890729"/>
            <a:ext cx="560024" cy="505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sz="3553" spc="152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81226" y="3403618"/>
            <a:ext cx="2276885" cy="48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9"/>
              </a:lnSpc>
            </a:pPr>
            <a:r>
              <a:rPr lang="en-US" b="true" sz="2145" spc="9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Sangat tidak memuaskan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31407" y="3403618"/>
            <a:ext cx="2156437" cy="48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9"/>
              </a:lnSpc>
            </a:pPr>
            <a:r>
              <a:rPr lang="en-US" b="true" sz="2145" spc="92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Sangat memuaskan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96287" y="2678937"/>
            <a:ext cx="7963365" cy="438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1"/>
              </a:lnSpc>
            </a:pPr>
            <a:r>
              <a:rPr lang="en-US" b="true" sz="2594" i="true">
                <a:solidFill>
                  <a:srgbClr val="737373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Heatmap</a:t>
            </a:r>
            <a:r>
              <a:rPr lang="en-US" sz="2594" b="true">
                <a:solidFill>
                  <a:srgbClr val="73737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Hasil Kuesioner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7124" y="3270820"/>
            <a:ext cx="974885" cy="97488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6E6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7124" y="4537212"/>
            <a:ext cx="974885" cy="97488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6E6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9595" y="1193025"/>
            <a:ext cx="14843601" cy="183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77"/>
              </a:lnSpc>
            </a:pPr>
            <a:r>
              <a:rPr lang="en-US" sz="13777" b="true">
                <a:solidFill>
                  <a:srgbClr val="545454"/>
                </a:solidFill>
                <a:latin typeface="Passion One Bold"/>
                <a:ea typeface="Passion One Bold"/>
                <a:cs typeface="Passion One Bold"/>
                <a:sym typeface="Passion One Bold"/>
              </a:rPr>
              <a:t>HASIL WAWANCARA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874604" y="3028883"/>
            <a:ext cx="9024792" cy="6046610"/>
          </a:xfrm>
          <a:custGeom>
            <a:avLst/>
            <a:gdLst/>
            <a:ahLst/>
            <a:cxnLst/>
            <a:rect r="r" b="b" t="t" l="l"/>
            <a:pathLst>
              <a:path h="6046610" w="9024792">
                <a:moveTo>
                  <a:pt x="0" y="0"/>
                </a:moveTo>
                <a:lnTo>
                  <a:pt x="9024791" y="0"/>
                </a:lnTo>
                <a:lnTo>
                  <a:pt x="9024791" y="6046611"/>
                </a:lnTo>
                <a:lnTo>
                  <a:pt x="0" y="6046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10005" y="3294291"/>
            <a:ext cx="8008828" cy="88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3"/>
              </a:lnSpc>
            </a:pPr>
            <a:r>
              <a:rPr lang="en-US" sz="2638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Responden masih belum memilah limbah makanan.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10005" y="4560683"/>
            <a:ext cx="9201630" cy="88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3"/>
              </a:lnSpc>
            </a:pPr>
            <a:r>
              <a:rPr lang="en-US" sz="2638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Pengetahuan tentang pengolahan limbah makanan masih rendah.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1523" y="3444426"/>
            <a:ext cx="546086" cy="56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7"/>
              </a:lnSpc>
            </a:pPr>
            <a:r>
              <a:rPr lang="en-US" b="true" sz="3262">
                <a:solidFill>
                  <a:srgbClr val="F4F7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1523" y="4710818"/>
            <a:ext cx="546086" cy="56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7"/>
              </a:lnSpc>
            </a:pPr>
            <a:r>
              <a:rPr lang="en-US" b="true" sz="3262">
                <a:solidFill>
                  <a:srgbClr val="F4F7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17124" y="5816896"/>
            <a:ext cx="8086297" cy="974885"/>
            <a:chOff x="0" y="0"/>
            <a:chExt cx="10781729" cy="129984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299846" cy="1299846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E6E65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9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857175" y="41119"/>
              <a:ext cx="8924554" cy="1173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3"/>
                </a:lnSpc>
              </a:pPr>
              <a:r>
                <a:rPr lang="en-US" sz="2638">
                  <a:solidFill>
                    <a:srgbClr val="73737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Fasilitas pemilahan limbah makanan di ITB masih belum memadai.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230559" y="250825"/>
              <a:ext cx="838728" cy="7257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67"/>
                </a:lnSpc>
              </a:pPr>
              <a:r>
                <a:rPr lang="en-US" b="true" sz="3262">
                  <a:solidFill>
                    <a:srgbClr val="F4F7ED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17124" y="7096581"/>
            <a:ext cx="9286454" cy="974885"/>
            <a:chOff x="0" y="0"/>
            <a:chExt cx="12381939" cy="129984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299846" cy="1299846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E6E65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9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1857175" y="41119"/>
              <a:ext cx="10524764" cy="1173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3"/>
                </a:lnSpc>
              </a:pPr>
              <a:r>
                <a:rPr lang="en-US" sz="2638">
                  <a:solidFill>
                    <a:srgbClr val="73737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Penyebab utama limbah makanan adalah karena kekenyangan, tidak selera, atau terburu-buru.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30559" y="250825"/>
              <a:ext cx="838728" cy="725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67"/>
                </a:lnSpc>
              </a:pPr>
              <a:r>
                <a:rPr lang="en-US" b="true" sz="3262">
                  <a:solidFill>
                    <a:srgbClr val="F4F7ED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04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17124" y="8376266"/>
            <a:ext cx="9286454" cy="974885"/>
            <a:chOff x="0" y="0"/>
            <a:chExt cx="12381939" cy="1299846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1299846" cy="1299846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E6E65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9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857175" y="41119"/>
              <a:ext cx="10524764" cy="1173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3"/>
                </a:lnSpc>
              </a:pPr>
              <a:r>
                <a:rPr lang="en-US" sz="2638">
                  <a:solidFill>
                    <a:srgbClr val="737373"/>
                  </a:solidFill>
                  <a:latin typeface="Open Sauce"/>
                  <a:ea typeface="Open Sauce"/>
                  <a:cs typeface="Open Sauce"/>
                  <a:sym typeface="Open Sauce"/>
                </a:rPr>
                <a:t>Dampak limbah makanan yang paling dirasakan adalah bau dan lalat.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230559" y="250825"/>
              <a:ext cx="838728" cy="725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67"/>
                </a:lnSpc>
              </a:pPr>
              <a:r>
                <a:rPr lang="en-US" b="true" sz="3262">
                  <a:solidFill>
                    <a:srgbClr val="F4F7ED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3776" y="1641589"/>
            <a:ext cx="8787518" cy="3943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51"/>
              </a:lnSpc>
            </a:pPr>
            <a:r>
              <a:rPr lang="en-US" sz="15151" b="true">
                <a:solidFill>
                  <a:srgbClr val="545454"/>
                </a:solidFill>
                <a:latin typeface="Passion One Bold"/>
                <a:ea typeface="Passion One Bold"/>
                <a:cs typeface="Passion One Bold"/>
                <a:sym typeface="Passion One Bold"/>
              </a:rPr>
              <a:t>USULAN SOLUSI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709371" y="1355839"/>
            <a:ext cx="6532455" cy="4997328"/>
          </a:xfrm>
          <a:custGeom>
            <a:avLst/>
            <a:gdLst/>
            <a:ahLst/>
            <a:cxnLst/>
            <a:rect r="r" b="b" t="t" l="l"/>
            <a:pathLst>
              <a:path h="4997328" w="6532455">
                <a:moveTo>
                  <a:pt x="0" y="0"/>
                </a:moveTo>
                <a:lnTo>
                  <a:pt x="6532456" y="0"/>
                </a:lnTo>
                <a:lnTo>
                  <a:pt x="6532456" y="4997328"/>
                </a:lnTo>
                <a:lnTo>
                  <a:pt x="0" y="4997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63776" y="6175728"/>
            <a:ext cx="1330645" cy="1132265"/>
            <a:chOff x="0" y="0"/>
            <a:chExt cx="1774193" cy="150968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774193" cy="1509687"/>
              <a:chOff x="0" y="0"/>
              <a:chExt cx="955207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5520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55207">
                    <a:moveTo>
                      <a:pt x="477604" y="0"/>
                    </a:moveTo>
                    <a:cubicBezTo>
                      <a:pt x="213830" y="0"/>
                      <a:pt x="0" y="181951"/>
                      <a:pt x="0" y="406400"/>
                    </a:cubicBezTo>
                    <a:cubicBezTo>
                      <a:pt x="0" y="630849"/>
                      <a:pt x="213830" y="812800"/>
                      <a:pt x="477604" y="812800"/>
                    </a:cubicBezTo>
                    <a:cubicBezTo>
                      <a:pt x="741377" y="812800"/>
                      <a:pt x="955207" y="630849"/>
                      <a:pt x="955207" y="406400"/>
                    </a:cubicBezTo>
                    <a:cubicBezTo>
                      <a:pt x="955207" y="181951"/>
                      <a:pt x="741377" y="0"/>
                      <a:pt x="477604" y="0"/>
                    </a:cubicBezTo>
                    <a:close/>
                  </a:path>
                </a:pathLst>
              </a:custGeom>
              <a:solidFill>
                <a:srgbClr val="2E6E65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89551" y="38100"/>
                <a:ext cx="776106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9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90186" y="286370"/>
              <a:ext cx="993821" cy="851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04"/>
                </a:lnSpc>
              </a:pPr>
              <a:r>
                <a:rPr lang="en-US" b="true" sz="3789">
                  <a:solidFill>
                    <a:srgbClr val="F4F7ED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125177" y="6305542"/>
            <a:ext cx="5338308" cy="860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1"/>
              </a:lnSpc>
            </a:pPr>
            <a:r>
              <a:rPr lang="en-US" sz="2494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Meningkatkan edukasi praktis mengenai pengolahan limbah.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63776" y="7623020"/>
            <a:ext cx="1330645" cy="1132265"/>
            <a:chOff x="0" y="0"/>
            <a:chExt cx="1774193" cy="1509687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774193" cy="1509687"/>
              <a:chOff x="0" y="0"/>
              <a:chExt cx="955207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95520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955207">
                    <a:moveTo>
                      <a:pt x="477604" y="0"/>
                    </a:moveTo>
                    <a:cubicBezTo>
                      <a:pt x="213830" y="0"/>
                      <a:pt x="0" y="181951"/>
                      <a:pt x="0" y="406400"/>
                    </a:cubicBezTo>
                    <a:cubicBezTo>
                      <a:pt x="0" y="630849"/>
                      <a:pt x="213830" y="812800"/>
                      <a:pt x="477604" y="812800"/>
                    </a:cubicBezTo>
                    <a:cubicBezTo>
                      <a:pt x="741377" y="812800"/>
                      <a:pt x="955207" y="630849"/>
                      <a:pt x="955207" y="406400"/>
                    </a:cubicBezTo>
                    <a:cubicBezTo>
                      <a:pt x="955207" y="181951"/>
                      <a:pt x="741377" y="0"/>
                      <a:pt x="477604" y="0"/>
                    </a:cubicBezTo>
                    <a:close/>
                  </a:path>
                </a:pathLst>
              </a:custGeom>
              <a:solidFill>
                <a:srgbClr val="2E6E6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89551" y="38100"/>
                <a:ext cx="776106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9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90186" y="286370"/>
              <a:ext cx="993821" cy="8512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04"/>
                </a:lnSpc>
              </a:pPr>
              <a:r>
                <a:rPr lang="en-US" b="true" sz="3789">
                  <a:solidFill>
                    <a:srgbClr val="F4F7ED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02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125177" y="7543284"/>
            <a:ext cx="5338308" cy="129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1"/>
              </a:lnSpc>
            </a:pPr>
            <a:r>
              <a:rPr lang="en-US" sz="2494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Menyediakan fasilitas pemilahan limbah makanan yang jelas dan memadai di area kampus.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44000" y="7623020"/>
            <a:ext cx="1330645" cy="1132265"/>
            <a:chOff x="0" y="0"/>
            <a:chExt cx="955207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5207" cy="812800"/>
            </a:xfrm>
            <a:custGeom>
              <a:avLst/>
              <a:gdLst/>
              <a:ahLst/>
              <a:cxnLst/>
              <a:rect r="r" b="b" t="t" l="l"/>
              <a:pathLst>
                <a:path h="812800" w="955207">
                  <a:moveTo>
                    <a:pt x="477604" y="0"/>
                  </a:moveTo>
                  <a:cubicBezTo>
                    <a:pt x="213830" y="0"/>
                    <a:pt x="0" y="181951"/>
                    <a:pt x="0" y="406400"/>
                  </a:cubicBezTo>
                  <a:cubicBezTo>
                    <a:pt x="0" y="630849"/>
                    <a:pt x="213830" y="812800"/>
                    <a:pt x="477604" y="812800"/>
                  </a:cubicBezTo>
                  <a:cubicBezTo>
                    <a:pt x="741377" y="812800"/>
                    <a:pt x="955207" y="630849"/>
                    <a:pt x="955207" y="406400"/>
                  </a:cubicBezTo>
                  <a:cubicBezTo>
                    <a:pt x="955207" y="181951"/>
                    <a:pt x="741377" y="0"/>
                    <a:pt x="477604" y="0"/>
                  </a:cubicBezTo>
                  <a:close/>
                </a:path>
              </a:pathLst>
            </a:custGeom>
            <a:solidFill>
              <a:srgbClr val="2E6E6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89551" y="38100"/>
              <a:ext cx="77610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436639" y="7816366"/>
            <a:ext cx="745366" cy="65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4"/>
              </a:lnSpc>
            </a:pPr>
            <a:r>
              <a:rPr lang="en-US" b="true" sz="3789">
                <a:solidFill>
                  <a:srgbClr val="F4F7E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03270" y="7575395"/>
            <a:ext cx="6619459" cy="129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1"/>
              </a:lnSpc>
            </a:pPr>
            <a:r>
              <a:rPr lang="en-US" sz="2494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Mengimplementasikan sistem pengelolaan terintegrasi yang memanfaatkan solusi biologis seperti manggot.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90625" y="4112520"/>
            <a:ext cx="14351440" cy="238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07"/>
              </a:lnSpc>
            </a:pPr>
            <a:r>
              <a:rPr lang="en-US" b="true" sz="17807" spc="658">
                <a:solidFill>
                  <a:srgbClr val="545454"/>
                </a:solidFill>
                <a:latin typeface="Passion One Bold"/>
                <a:ea typeface="Passion One Bold"/>
                <a:cs typeface="Passion One Bold"/>
                <a:sym typeface="Passion One Bold"/>
              </a:rPr>
              <a:t>TERIMA KASIH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-3104140">
            <a:off x="12199698" y="-4569272"/>
            <a:ext cx="7393348" cy="10843577"/>
          </a:xfrm>
          <a:custGeom>
            <a:avLst/>
            <a:gdLst/>
            <a:ahLst/>
            <a:cxnLst/>
            <a:rect r="r" b="b" t="t" l="l"/>
            <a:pathLst>
              <a:path h="10843577" w="7393348">
                <a:moveTo>
                  <a:pt x="0" y="10843577"/>
                </a:moveTo>
                <a:lnTo>
                  <a:pt x="7393347" y="10843577"/>
                </a:lnTo>
                <a:lnTo>
                  <a:pt x="7393347" y="0"/>
                </a:lnTo>
                <a:lnTo>
                  <a:pt x="0" y="0"/>
                </a:lnTo>
                <a:lnTo>
                  <a:pt x="0" y="1084357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802126" y="-1107671"/>
            <a:ext cx="4780444" cy="478044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366381" y="3968901"/>
            <a:ext cx="4780444" cy="478044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EEEE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9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" ma:contentTypeID="0x0101005693FD7F812C3A42AC9805B31D14DCCB" ma:contentTypeVersion="0" ma:contentTypeDescription="Buat sebuah dokumen baru." ma:contentTypeScope="" ma:versionID="9c12b6e01b0657dbcbe01a96b1c99ea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ab0f1808fdf8ef7d2f9b5b7994f3b2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e Isi"/>
        <xsd:element ref="dc:title" minOccurs="0" maxOccurs="1" ma:index="4" ma:displayName="Judu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CD4E76-A1DD-470C-B61B-D100E1B0F6DA}"/>
</file>

<file path=customXml/itemProps2.xml><?xml version="1.0" encoding="utf-8"?>
<ds:datastoreItem xmlns:ds="http://schemas.openxmlformats.org/officeDocument/2006/customXml" ds:itemID="{A6CD601A-61E9-4BBB-9185-18AC86DC47F3}"/>
</file>

<file path=customXml/itemProps3.xml><?xml version="1.0" encoding="utf-8"?>
<ds:datastoreItem xmlns:ds="http://schemas.openxmlformats.org/officeDocument/2006/customXml" ds:itemID="{D4463338-EE27-4B64-9517-027B0755CE4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Tubes Sustain</dc:title>
  <cp:revision>1</cp:revision>
  <dcterms:created xsi:type="dcterms:W3CDTF">2006-08-16T00:00:00Z</dcterms:created>
  <dcterms:modified xsi:type="dcterms:W3CDTF">2011-08-01T06:04:30Z</dcterms:modified>
  <dc:identifier>DAG5r_r4MKw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0x0101005693FD7F812C3A42AC9805B31D14DCCB</vt:lpwstr>
  </property>
</Properties>
</file>